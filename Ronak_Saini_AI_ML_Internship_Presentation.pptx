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548640"/>
            <a:ext cx="1920240" cy="19202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1371600"/>
            <a:ext cx="1097280" cy="10972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2194560"/>
            <a:ext cx="1371600" cy="1371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7955279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3C5FD"/>
                </a:solidFill>
                <a:latin typeface="Aptos"/>
              </a:defRPr>
            </a:pPr>
            <a:r>
              <a:t>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8412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Artificial Intelligence</a:t>
            </a:r>
            <a:br/>
            <a:r>
              <a:t>and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795527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Ronak Saini  |  Roll No. 2410031471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Aptos"/>
              </a:defRPr>
            </a:pPr>
            <a:r>
              <a:t>B.Tech CSE  |  Batch 2026–27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  <a:latin typeface="Aptos"/>
              </a:defRPr>
            </a:pPr>
            <a:r>
              <a:t>30-Day Virtual Internship  |  KODACY × 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 Display"/>
              </a:defRPr>
            </a:pPr>
            <a:r>
              <a:t>Internship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4114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3619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29967"/>
            <a:ext cx="2971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Ronak Saini</a:t>
            </a:r>
            <a:br/>
            <a:r>
              <a:t>Roll No. 2410031471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3619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Programme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29967"/>
            <a:ext cx="2971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B.Tech CSE</a:t>
            </a:r>
            <a:br/>
            <a:r>
              <a:t>Batch 2026–27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383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3619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Internship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29967"/>
            <a:ext cx="297180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30-Day Virtual Internship</a:t>
            </a:r>
            <a:br/>
            <a:r>
              <a:t>Artificial Intelligence &amp;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0332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Institution: School of Computer Science and Engineering, IILM University, Greater Noida, U.P.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Conducted by KODACY in association with Scientific Platforms and Cosmic Explorations (SPACE).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Certificate records successful completion on September 10, 2026.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 Display"/>
              </a:defRPr>
            </a:pPr>
            <a:r>
              <a:t>Artificial Intelligence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4114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16636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8191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Artificial Intelligence (AI)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75688"/>
            <a:ext cx="4754880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A field of computer science focused on systems that can perform tasks involving aspects of human intelligence, including learning, reasoning, pattern recognition and decision making.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16636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3566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8191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Machine Learning (ML)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75688"/>
            <a:ext cx="4754880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A major area within AI in which computer systems learn patterns from data and use those patterns to make predictions or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  <a:latin typeface="Aptos"/>
              </a:defRPr>
            </a:pPr>
            <a:r>
              <a:t>• Core connection: mathematics + programming + data preparation + model development + evaluation.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4114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Real-world applications generate large quantities of data that are difficult to analyze effectively using only manually written rules.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AI/ML systems can learn useful patterns from historical data to support prediction, classification, recommendation and decision-making.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The key challenge is transforming raw data into a reliable predictive or analytical model.</a:t>
            </a:r>
          </a:p>
          <a:p>
            <a:pPr>
              <a:spcAft>
                <a:spcPts val="10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• Success depends on data quality, meaningful features, appropriate learning methods, training and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486400"/>
            <a:ext cx="8503920" cy="685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5486400"/>
            <a:ext cx="73152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5650992"/>
            <a:ext cx="8092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6144768"/>
            <a:ext cx="8092440" cy="-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A systematic, reusable machine-learning problem-solving process.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4114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5074920" cy="960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99032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92808"/>
            <a:ext cx="46634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Understand fundamental AI and ML concepts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234440"/>
            <a:ext cx="5074920" cy="960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59" y="1234440"/>
            <a:ext cx="73152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399032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1892808"/>
            <a:ext cx="46634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Differentiate supervised and unsupervised learning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468880"/>
            <a:ext cx="5074920" cy="960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46888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633472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27248"/>
            <a:ext cx="46634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Learn data collection, cleaning and preprocessing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468880"/>
            <a:ext cx="5074920" cy="960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2468880"/>
            <a:ext cx="73152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2633472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3127248"/>
            <a:ext cx="46634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Understand feature selection and preparation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703320"/>
            <a:ext cx="5074920" cy="960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70332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867912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361688"/>
            <a:ext cx="46634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Study common ML algorithms and applications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3703320"/>
            <a:ext cx="5074920" cy="960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59" y="3703320"/>
            <a:ext cx="73152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59" y="3867912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4361688"/>
            <a:ext cx="46634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Understand training, validation and evaluation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937760"/>
            <a:ext cx="5074920" cy="960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49377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102352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596128"/>
            <a:ext cx="46634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Develop structured data-driven problem solving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59" y="4937760"/>
            <a:ext cx="5074920" cy="960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59" y="4937760"/>
            <a:ext cx="73152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59" y="5102352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59" y="5596128"/>
            <a:ext cx="466344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Connect AI/ML concepts with practical software solutions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 Display"/>
              </a:defRPr>
            </a:pPr>
            <a:r>
              <a:t>Scope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4114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474720" cy="4023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4023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Supervised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84248"/>
            <a:ext cx="3063239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Classification</a:t>
            </a:r>
            <a:br/>
            <a:r>
              <a:t>Regression</a:t>
            </a:r>
            <a:br/>
            <a:br/>
            <a:r>
              <a:t>Choose according to the target variable.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74720" cy="4023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73152" cy="4023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9047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Unsupervised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84248"/>
            <a:ext cx="3063239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Clustering</a:t>
            </a:r>
            <a:br/>
            <a:r>
              <a:t>Pattern discovery</a:t>
            </a:r>
            <a:br/>
            <a:br/>
            <a:r>
              <a:t>Useful when labeled target data is not the focus.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474720" cy="4023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4023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49047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Educational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84248"/>
            <a:ext cx="3063239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Data preparation</a:t>
            </a:r>
            <a:br/>
            <a:r>
              <a:t>Exploratory analysis</a:t>
            </a:r>
            <a:br/>
            <a:r>
              <a:t>Model selection &amp; evaluation</a:t>
            </a:r>
            <a:br/>
            <a:br/>
            <a:r>
              <a:t>Production-scale deployment is outside scope unless separately specified.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 Display"/>
              </a:defRPr>
            </a:pPr>
            <a:r>
              <a:t>Technologies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4114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29000" cy="16916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30175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Primary programming language for data processing and ML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25880"/>
            <a:ext cx="3429000" cy="16916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325880"/>
            <a:ext cx="73152" cy="1691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49047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Jupyter Notebook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984248"/>
            <a:ext cx="30175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Interactive environment for experimentation, documentation and visualization.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325880"/>
            <a:ext cx="3429000" cy="16916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32588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49047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NumPy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984248"/>
            <a:ext cx="30175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Numerical computing and array operations.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83280"/>
            <a:ext cx="3429000" cy="16916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8328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4787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Pandas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41648"/>
            <a:ext cx="30175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Data loading, cleaning, transformation and tabular analysis.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383280"/>
            <a:ext cx="3429000" cy="16916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383280"/>
            <a:ext cx="73152" cy="1691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54787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Matplotlib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041648"/>
            <a:ext cx="30175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Visualization of data and model-related results.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383280"/>
            <a:ext cx="3429000" cy="16916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338328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354787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Scikit-learn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041648"/>
            <a:ext cx="30175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ML algorithms, preprocessing, model selection and evaluation metrics.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4114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23160"/>
            <a:ext cx="11430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2039"/>
                </a:solidFill>
                <a:latin typeface="Aptos"/>
              </a:defRPr>
            </a:pPr>
            <a:r>
              <a:t>Problem</a:t>
            </a:r>
            <a:br/>
            <a:r>
              <a:t>Definition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645920" y="2788920"/>
            <a:ext cx="155448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01368" y="2423160"/>
            <a:ext cx="11430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2039"/>
                </a:solidFill>
                <a:latin typeface="Aptos"/>
              </a:defRPr>
            </a:pPr>
            <a:r>
              <a:t>Data</a:t>
            </a:r>
            <a:br/>
            <a:r>
              <a:t>Acquisition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44368" y="2788920"/>
            <a:ext cx="155448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99815" y="2423160"/>
            <a:ext cx="11430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2039"/>
                </a:solidFill>
                <a:latin typeface="Aptos"/>
              </a:defRPr>
            </a:pPr>
            <a:r>
              <a:t>Data</a:t>
            </a:r>
            <a:br/>
            <a:r>
              <a:t>Preprocessing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42816" y="2788920"/>
            <a:ext cx="155448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98264" y="2423160"/>
            <a:ext cx="11430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2039"/>
                </a:solidFill>
                <a:latin typeface="Aptos"/>
              </a:defRPr>
            </a:pPr>
            <a:r>
              <a:t>Feature</a:t>
            </a:r>
            <a:br/>
            <a:r>
              <a:t>Preparation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541264" y="2788920"/>
            <a:ext cx="155448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96712" y="2423160"/>
            <a:ext cx="11430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2039"/>
                </a:solidFill>
                <a:latin typeface="Aptos"/>
              </a:defRPr>
            </a:pPr>
            <a:r>
              <a:t>Train / Test</a:t>
            </a:r>
            <a:br/>
            <a:r>
              <a:t>Split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839712" y="2788920"/>
            <a:ext cx="155448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95159" y="2423160"/>
            <a:ext cx="11430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2039"/>
                </a:solidFill>
                <a:latin typeface="Aptos"/>
              </a:defRPr>
            </a:pPr>
            <a:r>
              <a:t>Model</a:t>
            </a:r>
            <a:br/>
            <a:r>
              <a:t>Training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138159" y="2788920"/>
            <a:ext cx="155448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93608" y="2423160"/>
            <a:ext cx="11430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2039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436608" y="2788920"/>
            <a:ext cx="155448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92056" y="2423160"/>
            <a:ext cx="11430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2039"/>
                </a:solidFill>
                <a:latin typeface="Aptos"/>
              </a:defRPr>
            </a:pPr>
            <a:r>
              <a:t>Interpretation</a:t>
            </a:r>
            <a:br/>
            <a:r>
              <a:t>&amp; Improvement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735056" y="2788920"/>
            <a:ext cx="155448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890504" y="2423160"/>
            <a:ext cx="11430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22039"/>
                </a:solidFill>
                <a:latin typeface="Aptos"/>
              </a:defRPr>
            </a:pPr>
            <a:r>
              <a:t>Final</a:t>
            </a:r>
            <a:br/>
            <a:r>
              <a:t>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4206240"/>
            <a:ext cx="850392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0" y="420624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4370831"/>
            <a:ext cx="8092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Key Insight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4864607"/>
            <a:ext cx="80924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Model performance depends not only on the algorithm, but also on data quality and the correctness of the overall workflow.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 Display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4114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747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1  Requirement &amp; problem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92808"/>
            <a:ext cx="30632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Structured workflow from problem definition to model improvement.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234440"/>
            <a:ext cx="34747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234440"/>
            <a:ext cx="73152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39903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2  Data 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892808"/>
            <a:ext cx="30632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Structured workflow from problem definition to model improvement.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234440"/>
            <a:ext cx="34747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23444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39903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3  Data 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892808"/>
            <a:ext cx="30632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Structured workflow from problem definition to model improvement.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88920"/>
            <a:ext cx="34747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78892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95351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4  Exploratory data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447287"/>
            <a:ext cx="30632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Structured workflow from problem definition to model improvement.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2788920"/>
            <a:ext cx="34747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2788920"/>
            <a:ext cx="73152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295351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5  Model selection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447287"/>
            <a:ext cx="30632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Structured workflow from problem definition to model improvement.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2788920"/>
            <a:ext cx="34747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278892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295351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6  Training &amp;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447287"/>
            <a:ext cx="30632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Structured workflow from problem definition to model improvement.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343400"/>
            <a:ext cx="34747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34340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50799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7  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001768"/>
            <a:ext cx="30632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Structured workflow from problem definition to model improvement.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4343400"/>
            <a:ext cx="34747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80560" y="4343400"/>
            <a:ext cx="73152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9160" y="450799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8  Interpretation &amp; documentation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5001768"/>
            <a:ext cx="30632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Structured workflow from problem definition to model improvement.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40" y="4343400"/>
            <a:ext cx="34747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21040" y="434340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4507992"/>
            <a:ext cx="30632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9  Improvement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5001768"/>
            <a:ext cx="30632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Structured workflow from problem definition to model improvement.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 Display"/>
              </a:defRPr>
            </a:pPr>
            <a:r>
              <a:t>Evaluation &amp; Expected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4114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Evaluation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84248"/>
            <a:ext cx="4800600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Classification:</a:t>
            </a:r>
            <a:br/>
            <a:r>
              <a:t>• Accuracy</a:t>
            </a:r>
            <a:br/>
            <a:r>
              <a:t>• Precision</a:t>
            </a:r>
            <a:br/>
            <a:r>
              <a:t>• Recall</a:t>
            </a:r>
            <a:br/>
            <a:r>
              <a:t>• F1-score</a:t>
            </a:r>
            <a:br/>
            <a:br/>
            <a:r>
              <a:t>Regression:</a:t>
            </a:r>
            <a:br/>
            <a:r>
              <a:t>• Mean Absolute Error (MAE)</a:t>
            </a:r>
            <a:br/>
            <a:r>
              <a:t>• Mean Squared Error (MSE)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1208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73152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90472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 Display"/>
              </a:defRPr>
            </a:pPr>
            <a:r>
              <a:t>Expected Learning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84248"/>
            <a:ext cx="4800600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ptos"/>
              </a:defRPr>
            </a:pPr>
            <a:r>
              <a:t>• Stronger AI/ML terminology and lifecycle understanding</a:t>
            </a:r>
            <a:br/>
            <a:r>
              <a:t>• Better dataset preparation and analysis skills</a:t>
            </a:r>
            <a:br/>
            <a:r>
              <a:t>• Understanding of training, validation and testing</a:t>
            </a:r>
            <a:br/>
            <a:r>
              <a:t>• Improved model-evaluation and analytical problem solving</a:t>
            </a:r>
            <a:br/>
            <a:r>
              <a:t>• Clear, reproducible documentation of the workflow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4592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• AI and ML provide data-driven approaches for prediction, classification and decision support.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• A reliable model requires more than algorithm selection: data quality and preprocessing are critical.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• A structured lifecycle—problem definition → data → model → evaluation → improvement—supports better results.</a:t>
            </a:r>
          </a:p>
          <a:p>
            <a:pPr>
              <a:spcAft>
                <a:spcPts val="10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• The internship strengthened foundational understanding of AI/ML workflows and their practical relevance.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 Display"/>
              </a:defRPr>
            </a:pPr>
            <a:r>
              <a:t>Internship Completion Certificate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4114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5" name="Picture 4" descr="ronak_certificate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51560"/>
            <a:ext cx="6720840" cy="519337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